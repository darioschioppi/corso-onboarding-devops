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CI/CD Pipeline &amp; Apache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8D4F0"/>
                </a:solidFill>
              </a:defRPr>
            </a:pPr>
            <a:r>
              <a:t>Automazione del rilascio software e messaggistica distribuita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AB8D9"/>
                </a:solidFill>
              </a:defRPr>
            </a:pPr>
            <a:r>
              <a:t>Dal commit alla produzione, dalla generazione all'elaborazione degli eventi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Introduzione: cosa sono CI e CD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1F6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Definizioni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CI — Continuous Integration: </a:t>
            </a:r>
            <a:r>
              <a:rPr sz="1800">
                <a:solidFill>
                  <a:srgbClr val="4A4A4A"/>
                </a:solidFill>
              </a:rPr>
              <a:t>processo automatizzato che integra frequentemente il codice sorgente di più sviluppatori in un repository condiviso, verificandone la correttezza tramite build e test automatici.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CD — Continuous Delivery/Deployment: </a:t>
            </a:r>
            <a:r>
              <a:rPr sz="1800">
                <a:solidFill>
                  <a:srgbClr val="4A4A4A"/>
                </a:solidFill>
              </a:rPr>
              <a:t>processo automatizzato che prepara (Delivery) o rilascia direttamente (Deployment) l'applicazione in ambienti di produzione, successivamente al superamento della fase di CI.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Obiettivo generale: </a:t>
            </a:r>
            <a:r>
              <a:rPr sz="1800">
                <a:solidFill>
                  <a:srgbClr val="4A4A4A"/>
                </a:solidFill>
              </a:rPr>
              <a:t>automatizzare l'intero percorso del codice, dal commit alla produzione, riducendo errori manuali e aumentando la frequenza e la sicurezza dei rilasci.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E59"/>
                </a:solidFill>
                <a:latin typeface="Calibri"/>
              </a:defRPr>
            </a:pPr>
            <a:r>
              <a:t>Lo schema di riferimento</a:t>
            </a:r>
          </a:p>
        </p:txBody>
      </p:sp>
      <p:pic>
        <p:nvPicPr>
          <p:cNvPr id="3" name="Picture 2" descr="frame_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051560"/>
            <a:ext cx="30861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18872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Schema originale disegnato a mano, tratto da un contenuto didattico divulgativo (Instagram Reel) che illustra in modo sintetico la pipeline CI/CD.</a:t>
            </a:r>
          </a:p>
          <a:p>
            <a:br/>
            <a:pPr>
              <a:defRPr sz="1600">
                <a:solidFill>
                  <a:srgbClr val="4A4A4A"/>
                </a:solidFill>
              </a:defRPr>
            </a:pPr>
            <a:r>
              <a:t>Gli 8 passaggi numerati rappresentano il flusso completo dal commit del codice al deployment in produzione.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E59"/>
                </a:solidFill>
                <a:latin typeface="Calibri"/>
              </a:defRPr>
            </a:pPr>
            <a:r>
              <a:t>Flowchart della pipeline CI/CD</a:t>
            </a:r>
          </a:p>
        </p:txBody>
      </p:sp>
      <p:pic>
        <p:nvPicPr>
          <p:cNvPr id="3" name="Picture 2" descr="generated_20260829_074940_699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868680"/>
            <a:ext cx="576072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18872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2E59"/>
                </a:solidFill>
              </a:defRPr>
            </a:pPr>
            <a:r>
              <a:t>Ricostruzione digitale dello schema, con gli 8 step organizzati in due macro-fasi:</a:t>
            </a:r>
          </a:p>
          <a:p>
            <a:pPr>
              <a:defRPr sz="1500">
                <a:solidFill>
                  <a:srgbClr val="4A4A4A"/>
                </a:solidFill>
              </a:defRPr>
            </a:pPr>
            <a:r>
              <a:t>•  CI (1-4): Commit, GitHub Actions, Build, Test</a:t>
            </a:r>
          </a:p>
          <a:p>
            <a:pPr>
              <a:defRPr sz="1500">
                <a:solidFill>
                  <a:srgbClr val="4A4A4A"/>
                </a:solidFill>
              </a:defRPr>
            </a:pPr>
            <a:r>
              <a:t>•  CD (5-8): Package, Docker Hub, Deploy,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Fase 1 — Continuous Integration (CI)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1F6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Code Commit → 2. GitHub Actions → 3. Build → 4.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1. Code Commit: </a:t>
            </a:r>
            <a:r>
              <a:rPr sz="1800">
                <a:solidFill>
                  <a:srgbClr val="4A4A4A"/>
                </a:solidFill>
              </a:rPr>
              <a:t>lo sviluppatore invia il codice sorgente al repository (es. GitHub).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2. GitHub Actions: </a:t>
            </a:r>
            <a:r>
              <a:rPr sz="1800">
                <a:solidFill>
                  <a:srgbClr val="4A4A4A"/>
                </a:solidFill>
              </a:rPr>
              <a:t>servizio di automazione che rileva il commit ed esegue il workflow CI/CD definito.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3. Build: </a:t>
            </a:r>
            <a:r>
              <a:rPr sz="1800">
                <a:solidFill>
                  <a:srgbClr val="4A4A4A"/>
                </a:solidFill>
              </a:rPr>
              <a:t>compilazione dell'applicazione (es. tramite Maven per progetti Java): compile → risoluzione dipendenze → generazione artefatto (file JAR).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4. Test: </a:t>
            </a:r>
            <a:r>
              <a:rPr sz="1800">
                <a:solidFill>
                  <a:srgbClr val="4A4A4A"/>
                </a:solidFill>
              </a:rPr>
              <a:t>esecuzione automatica di test funzionali su API e metodi; il superamento di tutti i test conclude la pipeline 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Fase 2 — Continuous Delivery/Deployment (CD)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5. Package → 6. Docker Hub → 7. Deploy → 8.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5. Package: </a:t>
            </a:r>
            <a:r>
              <a:rPr sz="1800">
                <a:solidFill>
                  <a:srgbClr val="4A4A4A"/>
                </a:solidFill>
              </a:rPr>
              <a:t>creazione di un'immagine Docker che incapsula l'applicazione e le sue dipendenze in un ambiente portabile.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6. Push to Docker Hub: </a:t>
            </a:r>
            <a:r>
              <a:rPr sz="1800">
                <a:solidFill>
                  <a:srgbClr val="4A4A4A"/>
                </a:solidFill>
              </a:rPr>
              <a:t>pubblicazione dell'immagine su un registro centralizzato (Docker Hub), da cui può essere recuperata.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7. Deploy to Server/Cloud: </a:t>
            </a:r>
            <a:r>
              <a:rPr sz="1800">
                <a:solidFill>
                  <a:srgbClr val="4A4A4A"/>
                </a:solidFill>
              </a:rPr>
              <a:t>un orchestratore (es. Kubernetes) recupera l'immagine e la distribuisce su un server fisico o infrastruttura cloud (es. AWS).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B2E59"/>
                </a:solidFill>
              </a:rPr>
              <a:t>8. Docker Container: </a:t>
            </a:r>
            <a:r>
              <a:rPr sz="1800">
                <a:solidFill>
                  <a:srgbClr val="4A4A4A"/>
                </a:solidFill>
              </a:rPr>
              <a:t>istanza in esecuzione dell'immagine Docker: è l'applicazione effettivamente attiva in produzione.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Conclusioni sulla pipeline CI/CD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1F6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Vantaggi dell'automazione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Riduzione degli errori manuali grazie all'automazione di build, test e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Maggiore frequenza e affidabilità dei rilasci in produzione.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Portabilità dell'applicazione su più ambienti tramite containerizzazione (Docker).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Scalabilità e resilienza del deployment tramite orchestratori come Kubernetes.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Standardizzazione del processo di sviluppo, dal commit alla produzione ("from commit to production").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Apache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8D4F0"/>
                </a:solidFill>
              </a:defRPr>
            </a:pPr>
            <a:r>
              <a:t>Producer, Topic, Partition, Consumer &amp; Consumer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Introduzione: i cinque concetti chiave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8E2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Definizioni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B2E59"/>
                </a:solidFill>
              </a:rPr>
              <a:t>Producer: </a:t>
            </a:r>
            <a:r>
              <a:rPr sz="1700">
                <a:solidFill>
                  <a:srgbClr val="4A4A4A"/>
                </a:solidFill>
              </a:rPr>
              <a:t>componente che genera e invia messaggi (eventi) a Kafka. Es. un Order Service che produce un messaggio ogni volta che un ordine viene completato.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B2E59"/>
                </a:solidFill>
              </a:rPr>
              <a:t>Topic: </a:t>
            </a:r>
            <a:r>
              <a:rPr sz="1700">
                <a:solidFill>
                  <a:srgbClr val="4A4A4A"/>
                </a:solidFill>
              </a:rPr>
              <a:t>canale logico dedicato in cui Kafka salva gli eventi di una determinata categoria (es. order-events).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B2E59"/>
                </a:solidFill>
              </a:rPr>
              <a:t>Partition: </a:t>
            </a:r>
            <a:r>
              <a:rPr sz="1700">
                <a:solidFill>
                  <a:srgbClr val="4A4A4A"/>
                </a:solidFill>
              </a:rPr>
              <a:t>suddivisione interna di un topic, utilizzata per distribuire il carico e ottenere parallelismo nella lettura dei messaggi.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B2E59"/>
                </a:solidFill>
              </a:rPr>
              <a:t>Consumer: </a:t>
            </a:r>
            <a:r>
              <a:rPr sz="1700">
                <a:solidFill>
                  <a:srgbClr val="4A4A4A"/>
                </a:solidFill>
              </a:rPr>
              <a:t>componente che legge (consuma) i messaggi da una partition del topic.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B2E59"/>
                </a:solidFill>
              </a:rPr>
              <a:t>Consumer Group: </a:t>
            </a:r>
            <a:r>
              <a:rPr sz="1700">
                <a:solidFill>
                  <a:srgbClr val="4A4A4A"/>
                </a:solidFill>
              </a:rPr>
              <a:t>insieme di consumer che collaborano per leggere lo stesso topic, ciascuno assegnato a partition differenti.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E59"/>
                </a:solidFill>
                <a:latin typeface="Calibri"/>
              </a:defRPr>
            </a:pPr>
            <a:r>
              <a:t>Lo schema di riferimento</a:t>
            </a:r>
          </a:p>
        </p:txBody>
      </p:sp>
      <p:pic>
        <p:nvPicPr>
          <p:cNvPr id="3" name="Picture 2" descr="frame_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51560"/>
            <a:ext cx="3034665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A4A4A"/>
                </a:solidFill>
              </a:defRPr>
            </a:pPr>
            <a:r>
              <a:t>Schema originale disegnato a mano, tratto da un contenuto didattico divulgativo, che illustra il flusso Producer → Topic/Partition → Consumer Group in Kafka.</a:t>
            </a:r>
          </a:p>
          <a:p>
            <a:br/>
            <a:pPr>
              <a:defRPr sz="1700">
                <a:solidFill>
                  <a:srgbClr val="4A4A4A"/>
                </a:solidFill>
              </a:defRPr>
            </a:pPr>
            <a:r>
              <a:t>L'esempio riguarda un Order Service che notifica tramite Kafka i servizi Notification, Inventory e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E59"/>
                </a:solidFill>
                <a:latin typeface="Calibri"/>
              </a:defRPr>
            </a:pPr>
            <a:r>
              <a:t>Architettura del flusso Kafka</a:t>
            </a:r>
          </a:p>
        </p:txBody>
      </p:sp>
      <p:pic>
        <p:nvPicPr>
          <p:cNvPr id="3" name="Picture 2" descr="generated_20260829_080636_460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07" y="1188720"/>
            <a:ext cx="521208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Esempio pratico: Order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8E2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Come funziona il parallelismo nei Consumer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B2E59"/>
                </a:solidFill>
              </a:rPr>
              <a:t>Scenario: </a:t>
            </a:r>
            <a:r>
              <a:rPr sz="1600">
                <a:solidFill>
                  <a:srgbClr val="4A4A4A"/>
                </a:solidFill>
              </a:rPr>
              <a:t>un Order Service (Producer) deve notificare tre servizi — Notification, Inventory e Payment — al completamento di un ordine.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B2E59"/>
                </a:solidFill>
              </a:rPr>
              <a:t>Distribuzione round-robin: </a:t>
            </a:r>
            <a:r>
              <a:rPr sz="1600">
                <a:solidFill>
                  <a:srgbClr val="4A4A4A"/>
                </a:solidFill>
              </a:rPr>
              <a:t>i messaggi vengono inviati in sequenza alle partition P0, P1, P2 e poi di nuovo P0, in modo ciclico.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B2E59"/>
                </a:solidFill>
              </a:rPr>
              <a:t>Un Consumer Group per servizio: </a:t>
            </a:r>
            <a:r>
              <a:rPr sz="1600">
                <a:solidFill>
                  <a:srgbClr val="4A4A4A"/>
                </a:solidFill>
              </a:rPr>
              <a:t>ogni servizio (Notification, Inventory, Payment) ha un proprio consumer group indipendente, che legge tutti gli stessi messaggi dal topic.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B2E59"/>
                </a:solidFill>
              </a:rPr>
              <a:t>Parallelismo interno: </a:t>
            </a:r>
            <a:r>
              <a:rPr sz="1600">
                <a:solidFill>
                  <a:srgbClr val="4A4A4A"/>
                </a:solidFill>
              </a:rPr>
              <a:t>all'interno di un consumer group, ogni consumer (C1, C2, C3) legge da una partition diversa, permettendo letture simultanee.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B2E59"/>
                </a:solidFill>
              </a:rPr>
              <a:t>Limite del parallelismo: </a:t>
            </a:r>
            <a:r>
              <a:rPr sz="1600">
                <a:solidFill>
                  <a:srgbClr val="4A4A4A"/>
                </a:solidFill>
              </a:rPr>
              <a:t>se il numero di consumer supera il numero di partition (es. C4 con solo 3 partition), il consumer eccedente resta inattivo (idle).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B2E59"/>
                </a:solidFill>
              </a:rPr>
              <a:t>Tolleranza ai guasti: </a:t>
            </a:r>
            <a:r>
              <a:rPr sz="1600">
                <a:solidFill>
                  <a:srgbClr val="4A4A4A"/>
                </a:solidFill>
              </a:rPr>
              <a:t>se un consumer si guasta, la sua partition viene riassegnata a un altro consumer attivo del gruppo.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E59"/>
                </a:solidFill>
                <a:latin typeface="Calibri"/>
              </a:defRPr>
            </a:pPr>
            <a:r>
              <a:t>Conclusioni generali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solidFill>
            <a:srgbClr val="1F6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CI/CD e Kafka: automazione e comunicazione distribuita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La pipeline CI/CD automatizza il ciclo di vita del software, dal commit alla produzione.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Kafka fornisce un'infrastruttura di messaggistica distribuita per la comunicazione asincrona tra microservizi.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Entrambi i sistemi condividono l'obiettivo di scalabilità, affidabilità e automazione dei processi.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Nei sistemi a microservizi moderni, CI/CD e Kafka sono spesso impiegati congiuntamente: CI/CD per il rilascio dei servizi, Kafka per la loro comunicazione in produzione.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CI/CD &amp; Apache Kafka — Corso di Informatica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